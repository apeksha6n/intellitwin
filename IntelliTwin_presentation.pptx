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40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-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777240" cy="850392"/>
          </a:xfrm>
          <a:prstGeom prst="rect">
            <a:avLst/>
          </a:prstGeom>
        </p:spPr>
      </p:pic>
      <p:pic>
        <p:nvPicPr>
          <p:cNvPr id="3" name="Image 1" descr="img-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932" y="109728"/>
            <a:ext cx="960120" cy="11247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4960" y="9144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INSTITUTE OF ENGINEERING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14960" y="1405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Autonomous Institution)  •  Mysuru, Karnataka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792224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841248" y="2714752"/>
            <a:ext cx="10543032" cy="1115568"/>
          </a:xfrm>
          <a:prstGeom prst="roundRect">
            <a:avLst>
              <a:gd name="adj" fmla="val 6557"/>
            </a:avLst>
          </a:prstGeom>
          <a:solidFill>
            <a:srgbClr val="065A82"/>
          </a:solidFill>
          <a:ln/>
        </p:spPr>
      </p:sp>
      <p:sp>
        <p:nvSpPr>
          <p:cNvPr id="8" name="Text 4"/>
          <p:cNvSpPr/>
          <p:nvPr/>
        </p:nvSpPr>
        <p:spPr>
          <a:xfrm>
            <a:off x="1005840" y="2798064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IntelliTwin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097280" y="3218688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Twin Platform for Smart Building Monitoring,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and Intelligent Energy Optimization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396849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PROJECT PRESENTATION  •  BATCH A7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4404360"/>
            <a:ext cx="4221480" cy="1932063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4526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05840" y="4754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Mohammed Adnan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90600" y="506655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CSE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03520" y="4434840"/>
            <a:ext cx="6080760" cy="1874520"/>
          </a:xfrm>
          <a:prstGeom prst="roundRect">
            <a:avLst>
              <a:gd name="adj" fmla="val 2927"/>
            </a:avLst>
          </a:prstGeom>
          <a:solidFill>
            <a:srgbClr val="EEF3F6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0" y="45262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4791456"/>
          <a:ext cx="5715000" cy="14401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Amulya Koundinya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4NI23CS019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Anjana Suresh Kumar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4NI23CS021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Apeksha N Gowda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4NI23CS024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Shree H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4NI23CS056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457200" y="641908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2A31E6-C825-491D-A6F4-758923D24909}"/>
              </a:ext>
            </a:extLst>
          </p:cNvPr>
          <p:cNvSpPr txBox="1"/>
          <p:nvPr/>
        </p:nvSpPr>
        <p:spPr>
          <a:xfrm>
            <a:off x="891540" y="5330952"/>
            <a:ext cx="22987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Mrs. Veena Mohan</a:t>
            </a:r>
          </a:p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1400" b="1" dirty="0">
              <a:solidFill>
                <a:srgbClr val="1A1A1A"/>
              </a:solidFill>
              <a:latin typeface="Cambria" pitchFamily="34" charset="0"/>
              <a:ea typeface="Cambria" pitchFamily="34" charset="-122"/>
            </a:endParaRPr>
          </a:p>
          <a:p>
            <a:endParaRPr lang="en-US" sz="1400" dirty="0"/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7BC8C-E7BD-4431-96C2-A185FA8BAE93}"/>
              </a:ext>
            </a:extLst>
          </p:cNvPr>
          <p:cNvSpPr txBox="1"/>
          <p:nvPr/>
        </p:nvSpPr>
        <p:spPr>
          <a:xfrm>
            <a:off x="904239" y="5815510"/>
            <a:ext cx="2367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0A7E6-F6E5-4864-BCEC-2B96884D5ACF}"/>
              </a:ext>
            </a:extLst>
          </p:cNvPr>
          <p:cNvSpPr txBox="1"/>
          <p:nvPr/>
        </p:nvSpPr>
        <p:spPr>
          <a:xfrm flipH="1">
            <a:off x="901699" y="5325374"/>
            <a:ext cx="2047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CO -GUIDE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is a virtual, continuously updated replica of a physical asset that mirrors its real-time state through streaming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32257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buildings need digital twins because occupancy, equipment load and environmental conditions change continuously and interact in complex, non-linear ways.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9125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monitoring systems mostly display live sensor values without correlating them to failure risk, energy trends or efficiency.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1879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2394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predictive analytics close this gap — learning from historical data to forecast risks such as equipment failure or power draw surges.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12064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5663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is a software-based Digital Twin platform that works entirely without physical IoT hardware, using a Virtual Sensor Simulator, ML models and a 3D dashboard.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6394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3940" y="18288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63940" y="3703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63940" y="370332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46920" y="2798064"/>
            <a:ext cx="0" cy="89611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811512" y="29992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51790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Virtual IoT Sensor Simulator that generates realistic, behaviourally-consistent sensor data without physical hardware.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15727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22592" y="151790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full-stack platform (React, Node.js, MongoDB) to ingest, store and serve real-time simulated sensor data.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3101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Random Forest-based predictive maintenance model that estimates equipment failure probability.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088" y="33101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22592" y="325526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AI-based energy consumption forecasting module to support intelligent energy optimization.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047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53312" y="499262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Isolation Forest-based anomaly detection module for real-time abnormal readings.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EEF3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5047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22592" y="499262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3D Digital Twin dashboard (Three.js) for building / floor / room-level visualization.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Drawbacks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308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057400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BMS / IoT dashboards are limited to real-time data acquisition and visualization.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626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907792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temperature, humidity, occupancy and power readings without correlating them to failure risk or efficiency.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8130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758184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scheduled at fixed calendar intervals, or triggered only after a visible fault occurs.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4608576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is threshold-based, flagging values only once they cross a static limit.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5138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5458968"/>
            <a:ext cx="4562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deployments are hardware-dependent — requiring procurement, installation and upkeep of physical sensors and gateways.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1308"/>
            </a:avLst>
          </a:prstGeom>
          <a:solidFill>
            <a:srgbClr val="F5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2112264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29984" y="2057400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capability — failures are caught only after they occur.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25496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29984" y="2770632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energy forecasting or optimization recommendations.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3538728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9984" y="3483864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simulate future or hypothetical scenarios.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4251960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9984" y="4197096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costly physical IoT hardware.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2240" y="4965192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9984" y="4910328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false positives / negatives from threshold-based alerts.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5678424"/>
            <a:ext cx="82296" cy="8229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29984" y="5623560"/>
            <a:ext cx="4562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tabular visualization, unsuited to multi-floor buildings; manual, time-consuming reporting.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&amp; Advantages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47088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80844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180844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9292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13048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11496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45252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45252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43700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77456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077456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75904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09660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709660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08108" y="2034540"/>
            <a:ext cx="333756" cy="0"/>
          </a:xfrm>
          <a:prstGeom prst="line">
            <a:avLst/>
          </a:prstGeom>
          <a:noFill/>
          <a:ln w="19050">
            <a:solidFill>
              <a:srgbClr val="9AA5A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41864" y="160020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10341864" y="16002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09981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hardware cost and installation complexity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320040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09981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maintenance via early failure prediction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98678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8862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proactive energy optimization, not after-the-fact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398678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8862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alert accuracy via ML-based anomaly detection over static thresholds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46725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risk-free what-if scenario testing before real-world decisions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7920" y="477316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6473952" y="467258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3D interface, easier to interpret than tabular dashboards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555955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" y="54589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Admin, Manager and Technician workflows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555955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54589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 architecture — can accept real IoT hardware later without redesign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(1/2)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93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17904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of Digital Twin Technology in Building Energy Consumption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1579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Boukaf, F. Fadli, N. Meskin  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12, pp. 187778–187799, 2024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Building Digital Twins to Improve Energy Efficiency in the Building Operational Stage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93192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S. Cespedes-Cubides, M. Jradi 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24281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Informatics, vol. 7, no. 1, 2024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15721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57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065776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for Reducing Energy Consumption in Buildings: A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570585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Arsecularatne, N. Rodrigo, R. Chang  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601675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Sustainability, vol. 16, no. 21, Art. 9275, 2024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(2/2)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93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17904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Ontology-enabled AI Agent-driven Intelligent Digital Twins for Building Operations and Maintenance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1579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Yoon, J. Song, J. Li  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Building Engineering, vol. 108, Art. 112802, 2025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Digital Twin Technology for Industrial Energy Management: Classification, Challenges and Future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93192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Yu, P. Patros, B. Young, E. Klinac, T. G. Walmsley 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24281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and Sustainable Energy Reviews, vol. 161, Art. 112407, 2022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11091672" cy="1572768"/>
          </a:xfrm>
          <a:prstGeom prst="roundRect">
            <a:avLst>
              <a:gd name="adj" fmla="val 3488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15721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57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065776"/>
            <a:ext cx="9948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by Using Digital Twin Systems and Weakly-Supervised Learning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570585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Castellani, S. Schmitt, S. Squartini  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601675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</a:t>
            </a: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Transactions on Industrial Informatics, vol. 17, no. 7, pp. 4733–4742, 2021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 Specification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308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1975104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48259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237286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277063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7812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3168396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/ Graphs: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6758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356616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0736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3963924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47141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436168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86918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475945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526694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5157216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566470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555498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(optional):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AWS / Render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1308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11226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IoT sensors, microcontrollers, or field hardware required — a software-based Virtual IoT Sensor Simulator is used instead.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2240" y="30449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711696" y="2944368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laptop: minimum 8 GB RAM, Intel i5 processor (or equivalent).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3977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711696" y="3877056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10 GB free disk space for dependencies, datasets and trained models.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92240" y="491032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711696" y="4809744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 for package installation and optional cloud deployment.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10543032" cy="4572000"/>
          </a:xfrm>
          <a:prstGeom prst="roundRect">
            <a:avLst>
              <a:gd name="adj" fmla="val 1600"/>
            </a:avLst>
          </a:prstGeom>
          <a:solidFill>
            <a:srgbClr val="EEF3F6"/>
          </a:solidFill>
          <a:ln w="15875">
            <a:solidFill>
              <a:srgbClr val="B9C6C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774436" y="3383280"/>
            <a:ext cx="640080" cy="502920"/>
          </a:xfrm>
          <a:prstGeom prst="rect">
            <a:avLst/>
          </a:prstGeom>
          <a:solidFill>
            <a:srgbClr val="D6E3EA"/>
          </a:solidFill>
          <a:ln/>
        </p:spPr>
      </p:sp>
      <p:sp>
        <p:nvSpPr>
          <p:cNvPr id="7" name="Shape 5"/>
          <p:cNvSpPr/>
          <p:nvPr/>
        </p:nvSpPr>
        <p:spPr>
          <a:xfrm>
            <a:off x="5820156" y="3017520"/>
            <a:ext cx="548640" cy="457200"/>
          </a:xfrm>
          <a:prstGeom prst="triangle">
            <a:avLst/>
          </a:prstGeom>
          <a:solidFill>
            <a:srgbClr val="D6E3E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02336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 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443484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High-Level Design diagram here — e.g. overall module/architecture view showing the Virtual Sensor Simulator, Node.js backend, MongoDB, Python AI Engine, and React + 3D Digital Twin frontend.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118FC-D6E2-4F61-B378-21D0E3269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69848"/>
            <a:ext cx="10543032" cy="5193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070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(LLD)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43032" cy="4572000"/>
          </a:xfrm>
          <a:prstGeom prst="roundRect">
            <a:avLst>
              <a:gd name="adj" fmla="val 1600"/>
            </a:avLst>
          </a:prstGeom>
          <a:solidFill>
            <a:srgbClr val="EEF3F6"/>
          </a:solidFill>
          <a:ln w="15875">
            <a:solidFill>
              <a:srgbClr val="B9C6C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774436" y="3383280"/>
            <a:ext cx="640080" cy="502920"/>
          </a:xfrm>
          <a:prstGeom prst="rect">
            <a:avLst/>
          </a:prstGeom>
          <a:solidFill>
            <a:srgbClr val="D6E3EA"/>
          </a:solidFill>
          <a:ln/>
        </p:spPr>
      </p:sp>
      <p:sp>
        <p:nvSpPr>
          <p:cNvPr id="7" name="Shape 5"/>
          <p:cNvSpPr/>
          <p:nvPr/>
        </p:nvSpPr>
        <p:spPr>
          <a:xfrm>
            <a:off x="5820156" y="3017520"/>
            <a:ext cx="548640" cy="457200"/>
          </a:xfrm>
          <a:prstGeom prst="triangle">
            <a:avLst/>
          </a:prstGeom>
          <a:solidFill>
            <a:srgbClr val="D6E3E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02336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 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443484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Low-Level Design diagram here — e.g. class diagrams, sequence diagrams, database schema, or detailed module-level data flow.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IntelliTwin — Phase 1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A90FD1-EBB8-4E40-871F-F16518700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4984"/>
            <a:ext cx="11183112" cy="5458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1120</Words>
  <Application>Microsoft Office PowerPoint</Application>
  <PresentationFormat>Widescreen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apekshacsn6@outlook.com</cp:lastModifiedBy>
  <cp:revision>3</cp:revision>
  <dcterms:created xsi:type="dcterms:W3CDTF">2026-08-12T20:34:43Z</dcterms:created>
  <dcterms:modified xsi:type="dcterms:W3CDTF">2026-08-12T20:57:33Z</dcterms:modified>
</cp:coreProperties>
</file>